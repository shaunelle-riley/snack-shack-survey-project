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1"/>
  </p:sldMasterIdLst>
  <p:sldIdLst>
    <p:sldId id="256" r:id="rId2"/>
    <p:sldId id="263" r:id="rId3"/>
    <p:sldId id="262" r:id="rId4"/>
    <p:sldId id="259" r:id="rId5"/>
    <p:sldId id="258" r:id="rId6"/>
    <p:sldId id="257" r:id="rId7"/>
    <p:sldId id="260" r:id="rId8"/>
    <p:sldId id="261"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CA3BDBF-0D7A-46D5-9C68-AB8A63800F47}">
          <p14:sldIdLst>
            <p14:sldId id="256"/>
            <p14:sldId id="263"/>
            <p14:sldId id="262"/>
            <p14:sldId id="259"/>
            <p14:sldId id="258"/>
            <p14:sldId id="257"/>
            <p14:sldId id="260"/>
            <p14:sldId id="261"/>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7" d="100"/>
          <a:sy n="67" d="100"/>
        </p:scale>
        <p:origin x="85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C2732151-11CC-423F-A683-C0FBAF4D07BA}" type="datetimeFigureOut">
              <a:rPr lang="en-US" smtClean="0"/>
              <a:t>11/24/2025</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a:p>
        </p:txBody>
      </p:sp>
      <p:sp>
        <p:nvSpPr>
          <p:cNvPr id="6" name="Slide Number Placeholder 5"/>
          <p:cNvSpPr>
            <a:spLocks noGrp="1"/>
          </p:cNvSpPr>
          <p:nvPr>
            <p:ph type="sldNum" sz="quarter" idx="12"/>
          </p:nvPr>
        </p:nvSpPr>
        <p:spPr>
          <a:xfrm>
            <a:off x="10608958" y="5870575"/>
            <a:ext cx="551167" cy="377825"/>
          </a:xfrm>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253358730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732151-11CC-423F-A683-C0FBAF4D07BA}"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2222060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732151-11CC-423F-A683-C0FBAF4D07BA}"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18207316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2732151-11CC-423F-A683-C0FBAF4D07BA}"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35087065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2732151-11CC-423F-A683-C0FBAF4D07BA}" type="datetimeFigureOut">
              <a:rPr lang="en-US" smtClean="0"/>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2560403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2732151-11CC-423F-A683-C0FBAF4D07BA}" type="datetimeFigureOut">
              <a:rPr lang="en-US" smtClean="0"/>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17005993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C2732151-11CC-423F-A683-C0FBAF4D07BA}" type="datetimeFigureOut">
              <a:rPr lang="en-US" smtClean="0"/>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1330848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732151-11CC-423F-A683-C0FBAF4D07BA}"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4609444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732151-11CC-423F-A683-C0FBAF4D07BA}"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40937850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2732151-11CC-423F-A683-C0FBAF4D07BA}" type="datetimeFigureOut">
              <a:rPr lang="en-US" smtClean="0"/>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25236474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732151-11CC-423F-A683-C0FBAF4D07BA}"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1873648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732151-11CC-423F-A683-C0FBAF4D07BA}"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276587112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732151-11CC-423F-A683-C0FBAF4D07BA}"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2686906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732151-11CC-423F-A683-C0FBAF4D07BA}"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332762821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2732151-11CC-423F-A683-C0FBAF4D07BA}"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24151348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732151-11CC-423F-A683-C0FBAF4D07BA}"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4FFF87-2049-450F-A1A1-C4D230C2E38B}"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139992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2732151-11CC-423F-A683-C0FBAF4D07BA}" type="datetimeFigureOut">
              <a:rPr lang="en-US" smtClean="0"/>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94FFF87-2049-450F-A1A1-C4D230C2E38B}" type="slidenum">
              <a:rPr lang="en-US" smtClean="0"/>
              <a:t>‹#›</a:t>
            </a:fld>
            <a:endParaRPr lang="en-US"/>
          </a:p>
        </p:txBody>
      </p:sp>
    </p:spTree>
    <p:extLst>
      <p:ext uri="{BB962C8B-B14F-4D97-AF65-F5344CB8AC3E}">
        <p14:creationId xmlns:p14="http://schemas.microsoft.com/office/powerpoint/2010/main" val="4262879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C2732151-11CC-423F-A683-C0FBAF4D07BA}" type="datetimeFigureOut">
              <a:rPr lang="en-US" smtClean="0"/>
              <a:t>11/24/2025</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94FFF87-2049-450F-A1A1-C4D230C2E38B}" type="slidenum">
              <a:rPr lang="en-US" smtClean="0"/>
              <a:t>‹#›</a:t>
            </a:fld>
            <a:endParaRPr lang="en-US"/>
          </a:p>
        </p:txBody>
      </p:sp>
    </p:spTree>
    <p:extLst>
      <p:ext uri="{BB962C8B-B14F-4D97-AF65-F5344CB8AC3E}">
        <p14:creationId xmlns:p14="http://schemas.microsoft.com/office/powerpoint/2010/main" val="1841305428"/>
      </p:ext>
    </p:extLst>
  </p:cSld>
  <p:clrMap bg1="dk1" tx1="lt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7C25C-3FB1-12CF-F2B4-3B9199D5B535}"/>
              </a:ext>
            </a:extLst>
          </p:cNvPr>
          <p:cNvSpPr>
            <a:spLocks noGrp="1"/>
          </p:cNvSpPr>
          <p:nvPr>
            <p:ph type="ctrTitle"/>
          </p:nvPr>
        </p:nvSpPr>
        <p:spPr>
          <a:xfrm>
            <a:off x="2619374" y="742950"/>
            <a:ext cx="8353427" cy="3371850"/>
          </a:xfrm>
        </p:spPr>
        <p:txBody>
          <a:bodyPr>
            <a:normAutofit fontScale="90000"/>
          </a:bodyPr>
          <a:lstStyle/>
          <a:p>
            <a:r>
              <a:rPr lang="en-US" sz="8000" dirty="0"/>
              <a:t>Snack Shack Survey Data Visualizations</a:t>
            </a:r>
            <a:br>
              <a:rPr lang="en-US" sz="8000" dirty="0"/>
            </a:br>
            <a:r>
              <a:rPr lang="en-US" sz="8000" dirty="0"/>
              <a:t>AND INSIGHTS</a:t>
            </a:r>
          </a:p>
        </p:txBody>
      </p:sp>
      <p:sp>
        <p:nvSpPr>
          <p:cNvPr id="3" name="TextBox 2">
            <a:extLst>
              <a:ext uri="{FF2B5EF4-FFF2-40B4-BE49-F238E27FC236}">
                <a16:creationId xmlns:a16="http://schemas.microsoft.com/office/drawing/2014/main" id="{86F143D9-3519-CBF1-7C91-3AB3867B76E8}"/>
              </a:ext>
            </a:extLst>
          </p:cNvPr>
          <p:cNvSpPr txBox="1"/>
          <p:nvPr/>
        </p:nvSpPr>
        <p:spPr>
          <a:xfrm>
            <a:off x="8972550" y="6243638"/>
            <a:ext cx="3028950" cy="369332"/>
          </a:xfrm>
          <a:prstGeom prst="rect">
            <a:avLst/>
          </a:prstGeom>
          <a:noFill/>
        </p:spPr>
        <p:txBody>
          <a:bodyPr wrap="square" rtlCol="0">
            <a:spAutoFit/>
          </a:bodyPr>
          <a:lstStyle/>
          <a:p>
            <a:r>
              <a:rPr lang="en-US" dirty="0"/>
              <a:t>By: Shaunelle Riley</a:t>
            </a:r>
          </a:p>
        </p:txBody>
      </p:sp>
    </p:spTree>
    <p:extLst>
      <p:ext uri="{BB962C8B-B14F-4D97-AF65-F5344CB8AC3E}">
        <p14:creationId xmlns:p14="http://schemas.microsoft.com/office/powerpoint/2010/main" val="3075719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A25E6-E745-DF1D-537C-BC4D50AACD7C}"/>
              </a:ext>
            </a:extLst>
          </p:cNvPr>
          <p:cNvSpPr>
            <a:spLocks noGrp="1"/>
          </p:cNvSpPr>
          <p:nvPr>
            <p:ph type="title"/>
          </p:nvPr>
        </p:nvSpPr>
        <p:spPr/>
        <p:txBody>
          <a:bodyPr/>
          <a:lstStyle/>
          <a:p>
            <a:r>
              <a:rPr lang="en-US" dirty="0"/>
              <a:t>Presentation Overview</a:t>
            </a:r>
          </a:p>
        </p:txBody>
      </p:sp>
      <p:sp>
        <p:nvSpPr>
          <p:cNvPr id="3" name="Content Placeholder 2">
            <a:extLst>
              <a:ext uri="{FF2B5EF4-FFF2-40B4-BE49-F238E27FC236}">
                <a16:creationId xmlns:a16="http://schemas.microsoft.com/office/drawing/2014/main" id="{0C87B346-B7AC-5FDE-FBFE-4A0010887946}"/>
              </a:ext>
            </a:extLst>
          </p:cNvPr>
          <p:cNvSpPr>
            <a:spLocks noGrp="1"/>
          </p:cNvSpPr>
          <p:nvPr>
            <p:ph idx="1"/>
          </p:nvPr>
        </p:nvSpPr>
        <p:spPr>
          <a:xfrm>
            <a:off x="685801" y="1770593"/>
            <a:ext cx="10131425" cy="2615670"/>
          </a:xfrm>
        </p:spPr>
        <p:txBody>
          <a:bodyPr>
            <a:normAutofit/>
          </a:bodyPr>
          <a:lstStyle/>
          <a:p>
            <a:r>
              <a:rPr lang="en-US" sz="2000" dirty="0"/>
              <a:t>This presentation will cover:</a:t>
            </a:r>
          </a:p>
          <a:p>
            <a:pPr lvl="1"/>
            <a:r>
              <a:rPr lang="en-US" sz="1800" dirty="0"/>
              <a:t>Data visualizations</a:t>
            </a:r>
          </a:p>
          <a:p>
            <a:pPr lvl="1"/>
            <a:r>
              <a:rPr lang="en-US" sz="1800" dirty="0"/>
              <a:t>Business Insights</a:t>
            </a:r>
            <a:endParaRPr lang="en-US" sz="2000" dirty="0"/>
          </a:p>
          <a:p>
            <a:r>
              <a:rPr lang="en-US" sz="2000" dirty="0"/>
              <a:t>The data utilized in this presentation was collected from surveys given to employees.</a:t>
            </a:r>
            <a:endParaRPr lang="en-US" sz="1800" dirty="0"/>
          </a:p>
          <a:p>
            <a:pPr marL="457200" lvl="1" indent="0">
              <a:buNone/>
            </a:pPr>
            <a:endParaRPr lang="en-US" sz="1800" dirty="0"/>
          </a:p>
          <a:p>
            <a:pPr marL="457200" lvl="1" indent="0">
              <a:buNone/>
            </a:pPr>
            <a:endParaRPr lang="en-US" sz="1800" dirty="0"/>
          </a:p>
        </p:txBody>
      </p:sp>
    </p:spTree>
    <p:extLst>
      <p:ext uri="{BB962C8B-B14F-4D97-AF65-F5344CB8AC3E}">
        <p14:creationId xmlns:p14="http://schemas.microsoft.com/office/powerpoint/2010/main" val="2428423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1006DA-D60E-46F7-C165-E8B8FE7F37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D4023B-F0BE-F068-FD87-531E38C0B2CB}"/>
              </a:ext>
            </a:extLst>
          </p:cNvPr>
          <p:cNvSpPr>
            <a:spLocks noGrp="1"/>
          </p:cNvSpPr>
          <p:nvPr>
            <p:ph type="title"/>
          </p:nvPr>
        </p:nvSpPr>
        <p:spPr>
          <a:xfrm>
            <a:off x="1141413" y="138113"/>
            <a:ext cx="9905998" cy="619125"/>
          </a:xfrm>
        </p:spPr>
        <p:txBody>
          <a:bodyPr>
            <a:normAutofit fontScale="90000"/>
          </a:bodyPr>
          <a:lstStyle/>
          <a:p>
            <a:r>
              <a:rPr lang="en-US" dirty="0"/>
              <a:t>Demographic Information</a:t>
            </a:r>
          </a:p>
        </p:txBody>
      </p:sp>
      <p:pic>
        <p:nvPicPr>
          <p:cNvPr id="1026" name="Picture 2">
            <a:extLst>
              <a:ext uri="{FF2B5EF4-FFF2-40B4-BE49-F238E27FC236}">
                <a16:creationId xmlns:a16="http://schemas.microsoft.com/office/drawing/2014/main" id="{8D0338EB-2D45-CFCD-781A-4FAAC15AF1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5806" y="1188404"/>
            <a:ext cx="10720387" cy="44811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867278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29F6E-F7D8-3CAF-E25B-9561BA3593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82B1F1-1484-2414-63FA-FE1766C6BD5F}"/>
              </a:ext>
            </a:extLst>
          </p:cNvPr>
          <p:cNvSpPr>
            <a:spLocks noGrp="1"/>
          </p:cNvSpPr>
          <p:nvPr>
            <p:ph type="title"/>
          </p:nvPr>
        </p:nvSpPr>
        <p:spPr>
          <a:xfrm>
            <a:off x="1141413" y="138113"/>
            <a:ext cx="9905998" cy="619125"/>
          </a:xfrm>
        </p:spPr>
        <p:txBody>
          <a:bodyPr>
            <a:normAutofit fontScale="90000"/>
          </a:bodyPr>
          <a:lstStyle/>
          <a:p>
            <a:r>
              <a:rPr lang="en-US" dirty="0"/>
              <a:t>Food Snacks</a:t>
            </a:r>
          </a:p>
        </p:txBody>
      </p:sp>
      <p:pic>
        <p:nvPicPr>
          <p:cNvPr id="3074" name="Picture 2">
            <a:extLst>
              <a:ext uri="{FF2B5EF4-FFF2-40B4-BE49-F238E27FC236}">
                <a16:creationId xmlns:a16="http://schemas.microsoft.com/office/drawing/2014/main" id="{09053FF7-9046-D1D6-53DF-EB3397465D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62050"/>
            <a:ext cx="12192000" cy="453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45285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32144-EFE9-7B58-50C1-8501844F1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56B09D-8BB3-2240-F5CC-702386293A71}"/>
              </a:ext>
            </a:extLst>
          </p:cNvPr>
          <p:cNvSpPr>
            <a:spLocks noGrp="1"/>
          </p:cNvSpPr>
          <p:nvPr>
            <p:ph type="title"/>
          </p:nvPr>
        </p:nvSpPr>
        <p:spPr>
          <a:xfrm>
            <a:off x="1141413" y="138113"/>
            <a:ext cx="9905998" cy="619125"/>
          </a:xfrm>
        </p:spPr>
        <p:txBody>
          <a:bodyPr>
            <a:normAutofit fontScale="90000"/>
          </a:bodyPr>
          <a:lstStyle/>
          <a:p>
            <a:r>
              <a:rPr lang="en-US" dirty="0"/>
              <a:t>Drinks</a:t>
            </a:r>
          </a:p>
        </p:txBody>
      </p:sp>
      <p:pic>
        <p:nvPicPr>
          <p:cNvPr id="2054" name="Picture 6">
            <a:extLst>
              <a:ext uri="{FF2B5EF4-FFF2-40B4-BE49-F238E27FC236}">
                <a16:creationId xmlns:a16="http://schemas.microsoft.com/office/drawing/2014/main" id="{4A641E18-C11D-20BF-6899-45BAA945F5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66799"/>
            <a:ext cx="12192000" cy="41322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63947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A1C9C-2C38-88C3-96F3-F4C98C1762D8}"/>
              </a:ext>
            </a:extLst>
          </p:cNvPr>
          <p:cNvSpPr>
            <a:spLocks noGrp="1"/>
          </p:cNvSpPr>
          <p:nvPr>
            <p:ph type="title"/>
          </p:nvPr>
        </p:nvSpPr>
        <p:spPr>
          <a:xfrm>
            <a:off x="1141413" y="138113"/>
            <a:ext cx="9905998" cy="619125"/>
          </a:xfrm>
        </p:spPr>
        <p:txBody>
          <a:bodyPr>
            <a:normAutofit fontScale="90000"/>
          </a:bodyPr>
          <a:lstStyle/>
          <a:p>
            <a:r>
              <a:rPr lang="en-US" dirty="0"/>
              <a:t>Sweet Snacks</a:t>
            </a:r>
          </a:p>
        </p:txBody>
      </p:sp>
      <p:pic>
        <p:nvPicPr>
          <p:cNvPr id="1030" name="Picture 6">
            <a:extLst>
              <a:ext uri="{FF2B5EF4-FFF2-40B4-BE49-F238E27FC236}">
                <a16:creationId xmlns:a16="http://schemas.microsoft.com/office/drawing/2014/main" id="{D3648174-9E0C-6A6A-45A0-4CADB47F574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03744" y="757238"/>
            <a:ext cx="11384512" cy="5657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609209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AF4160-0210-4956-5E90-072029BDAB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ABD2CA-C633-0CCC-7A50-F3362804B59A}"/>
              </a:ext>
            </a:extLst>
          </p:cNvPr>
          <p:cNvSpPr>
            <a:spLocks noGrp="1"/>
          </p:cNvSpPr>
          <p:nvPr>
            <p:ph type="title"/>
          </p:nvPr>
        </p:nvSpPr>
        <p:spPr>
          <a:xfrm>
            <a:off x="1141413" y="138113"/>
            <a:ext cx="9905998" cy="619125"/>
          </a:xfrm>
        </p:spPr>
        <p:txBody>
          <a:bodyPr>
            <a:normAutofit fontScale="90000"/>
          </a:bodyPr>
          <a:lstStyle/>
          <a:p>
            <a:r>
              <a:rPr lang="en-US" dirty="0"/>
              <a:t>Mixed Snacks</a:t>
            </a:r>
          </a:p>
        </p:txBody>
      </p:sp>
      <p:pic>
        <p:nvPicPr>
          <p:cNvPr id="4098" name="Picture 2">
            <a:extLst>
              <a:ext uri="{FF2B5EF4-FFF2-40B4-BE49-F238E27FC236}">
                <a16:creationId xmlns:a16="http://schemas.microsoft.com/office/drawing/2014/main" id="{18604F7E-6378-551B-E6C4-BAEF17730641}"/>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29261" y="757238"/>
            <a:ext cx="11812684" cy="58706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1670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2E62C2-4F30-A0FC-D837-02B8B37995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E7458-BD31-AF7F-7EDB-74671BFA9719}"/>
              </a:ext>
            </a:extLst>
          </p:cNvPr>
          <p:cNvSpPr>
            <a:spLocks noGrp="1"/>
          </p:cNvSpPr>
          <p:nvPr>
            <p:ph type="title"/>
          </p:nvPr>
        </p:nvSpPr>
        <p:spPr>
          <a:xfrm>
            <a:off x="1141413" y="138113"/>
            <a:ext cx="9905998" cy="619125"/>
          </a:xfrm>
        </p:spPr>
        <p:txBody>
          <a:bodyPr>
            <a:normAutofit fontScale="90000"/>
          </a:bodyPr>
          <a:lstStyle/>
          <a:p>
            <a:r>
              <a:rPr lang="en-US" dirty="0"/>
              <a:t>Suggestion Cloud</a:t>
            </a:r>
          </a:p>
        </p:txBody>
      </p:sp>
      <p:pic>
        <p:nvPicPr>
          <p:cNvPr id="4" name="Picture 3">
            <a:extLst>
              <a:ext uri="{FF2B5EF4-FFF2-40B4-BE49-F238E27FC236}">
                <a16:creationId xmlns:a16="http://schemas.microsoft.com/office/drawing/2014/main" id="{8C62C783-38FD-E5B0-B400-1443149CCB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1127" y="1092132"/>
            <a:ext cx="9507102" cy="5116110"/>
          </a:xfrm>
          <a:prstGeom prst="rect">
            <a:avLst/>
          </a:prstGeom>
        </p:spPr>
      </p:pic>
    </p:spTree>
    <p:extLst>
      <p:ext uri="{BB962C8B-B14F-4D97-AF65-F5344CB8AC3E}">
        <p14:creationId xmlns:p14="http://schemas.microsoft.com/office/powerpoint/2010/main" val="659549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55061-4BB2-A38A-B43C-CDD49083B56A}"/>
              </a:ext>
            </a:extLst>
          </p:cNvPr>
          <p:cNvSpPr>
            <a:spLocks noGrp="1"/>
          </p:cNvSpPr>
          <p:nvPr>
            <p:ph type="title"/>
          </p:nvPr>
        </p:nvSpPr>
        <p:spPr/>
        <p:txBody>
          <a:bodyPr/>
          <a:lstStyle/>
          <a:p>
            <a:r>
              <a:rPr lang="en-US" dirty="0"/>
              <a:t>Business Insights</a:t>
            </a:r>
          </a:p>
        </p:txBody>
      </p:sp>
      <p:sp>
        <p:nvSpPr>
          <p:cNvPr id="3" name="Content Placeholder 2">
            <a:extLst>
              <a:ext uri="{FF2B5EF4-FFF2-40B4-BE49-F238E27FC236}">
                <a16:creationId xmlns:a16="http://schemas.microsoft.com/office/drawing/2014/main" id="{9294E4B7-722E-2A3C-BAED-BE1711615000}"/>
              </a:ext>
            </a:extLst>
          </p:cNvPr>
          <p:cNvSpPr>
            <a:spLocks noGrp="1"/>
          </p:cNvSpPr>
          <p:nvPr>
            <p:ph idx="1"/>
          </p:nvPr>
        </p:nvSpPr>
        <p:spPr>
          <a:xfrm>
            <a:off x="685801" y="1600201"/>
            <a:ext cx="9915524" cy="2185987"/>
          </a:xfrm>
        </p:spPr>
        <p:txBody>
          <a:bodyPr>
            <a:normAutofit/>
          </a:bodyPr>
          <a:lstStyle/>
          <a:p>
            <a:r>
              <a:rPr lang="en-US" sz="2000" b="1" dirty="0"/>
              <a:t>The analysis will address the following key areas:</a:t>
            </a:r>
          </a:p>
          <a:p>
            <a:pPr lvl="1"/>
            <a:r>
              <a:rPr lang="en-US" dirty="0"/>
              <a:t>Assessment of survey data quality and effectiveness</a:t>
            </a:r>
          </a:p>
          <a:p>
            <a:pPr lvl="1"/>
            <a:r>
              <a:rPr lang="en-US" dirty="0"/>
              <a:t>Identification of preferred and less preferred snack categories among respondents</a:t>
            </a:r>
          </a:p>
          <a:p>
            <a:pPr lvl="1"/>
            <a:r>
              <a:rPr lang="en-US" dirty="0"/>
              <a:t>Suggestions</a:t>
            </a:r>
          </a:p>
          <a:p>
            <a:endParaRPr lang="en-US" sz="1200" dirty="0"/>
          </a:p>
        </p:txBody>
      </p:sp>
    </p:spTree>
    <p:extLst>
      <p:ext uri="{BB962C8B-B14F-4D97-AF65-F5344CB8AC3E}">
        <p14:creationId xmlns:p14="http://schemas.microsoft.com/office/powerpoint/2010/main" val="1041862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DAAE6-9904-A834-4070-65A756E55A12}"/>
              </a:ext>
            </a:extLst>
          </p:cNvPr>
          <p:cNvSpPr>
            <a:spLocks noGrp="1"/>
          </p:cNvSpPr>
          <p:nvPr>
            <p:ph type="title"/>
          </p:nvPr>
        </p:nvSpPr>
        <p:spPr/>
        <p:txBody>
          <a:bodyPr>
            <a:normAutofit fontScale="90000"/>
          </a:bodyPr>
          <a:lstStyle/>
          <a:p>
            <a:r>
              <a:rPr lang="en-US" b="1" dirty="0"/>
              <a:t>Assessment of survey data quality and effectiveness</a:t>
            </a:r>
            <a:br>
              <a:rPr lang="en-US" b="1" dirty="0"/>
            </a:br>
            <a:endParaRPr lang="en-US" dirty="0"/>
          </a:p>
        </p:txBody>
      </p:sp>
      <p:sp>
        <p:nvSpPr>
          <p:cNvPr id="3" name="Content Placeholder 2">
            <a:extLst>
              <a:ext uri="{FF2B5EF4-FFF2-40B4-BE49-F238E27FC236}">
                <a16:creationId xmlns:a16="http://schemas.microsoft.com/office/drawing/2014/main" id="{DE0DEB49-0CFD-DB13-22D9-39D3B29B0DB8}"/>
              </a:ext>
            </a:extLst>
          </p:cNvPr>
          <p:cNvSpPr>
            <a:spLocks noGrp="1"/>
          </p:cNvSpPr>
          <p:nvPr>
            <p:ph idx="1"/>
          </p:nvPr>
        </p:nvSpPr>
        <p:spPr>
          <a:xfrm>
            <a:off x="685801" y="1820332"/>
            <a:ext cx="10131425" cy="1794405"/>
          </a:xfrm>
        </p:spPr>
        <p:txBody>
          <a:bodyPr>
            <a:normAutofit/>
          </a:bodyPr>
          <a:lstStyle/>
          <a:p>
            <a:r>
              <a:rPr lang="en-US" dirty="0"/>
              <a:t>The survey data was fully complete, with all respondents providing answers to every question. </a:t>
            </a:r>
          </a:p>
          <a:p>
            <a:r>
              <a:rPr lang="en-US" dirty="0"/>
              <a:t>This high level of response completeness strengthens the reliability of the analysis and ensures that the insights generated accurately reflect the preferences and needs of the individuals who will be using the snack shack.</a:t>
            </a:r>
          </a:p>
          <a:p>
            <a:endParaRPr lang="en-US" dirty="0"/>
          </a:p>
        </p:txBody>
      </p:sp>
    </p:spTree>
    <p:extLst>
      <p:ext uri="{BB962C8B-B14F-4D97-AF65-F5344CB8AC3E}">
        <p14:creationId xmlns:p14="http://schemas.microsoft.com/office/powerpoint/2010/main" val="1337128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46114-93C1-5FA8-11C4-09C509C200B1}"/>
              </a:ext>
            </a:extLst>
          </p:cNvPr>
          <p:cNvSpPr>
            <a:spLocks noGrp="1"/>
          </p:cNvSpPr>
          <p:nvPr>
            <p:ph type="title"/>
          </p:nvPr>
        </p:nvSpPr>
        <p:spPr/>
        <p:txBody>
          <a:bodyPr>
            <a:normAutofit fontScale="90000"/>
          </a:bodyPr>
          <a:lstStyle/>
          <a:p>
            <a:r>
              <a:rPr lang="en-US" b="1" dirty="0"/>
              <a:t>Identification of preferred and less preferred snack categories among respondents</a:t>
            </a:r>
            <a:br>
              <a:rPr lang="en-US" b="1" dirty="0"/>
            </a:br>
            <a:endParaRPr lang="en-US" dirty="0"/>
          </a:p>
        </p:txBody>
      </p:sp>
      <p:sp>
        <p:nvSpPr>
          <p:cNvPr id="3" name="Content Placeholder 2">
            <a:extLst>
              <a:ext uri="{FF2B5EF4-FFF2-40B4-BE49-F238E27FC236}">
                <a16:creationId xmlns:a16="http://schemas.microsoft.com/office/drawing/2014/main" id="{1308414E-255D-6D25-5BA0-06D4324084EB}"/>
              </a:ext>
            </a:extLst>
          </p:cNvPr>
          <p:cNvSpPr>
            <a:spLocks noGrp="1"/>
          </p:cNvSpPr>
          <p:nvPr>
            <p:ph idx="1"/>
          </p:nvPr>
        </p:nvSpPr>
        <p:spPr/>
        <p:txBody>
          <a:bodyPr/>
          <a:lstStyle/>
          <a:p>
            <a:r>
              <a:rPr lang="en-US" dirty="0"/>
              <a:t>The survey results indicate that sweet treats, sandwich biscuits, flavored water, cheese chips, and salted snacks were the most preferred categories, with no respondents leaving these items unanswered. Across all categories, only mixed snacks had more than two null responses, highlighting a general consensus among respondents for quick and easy snack options.</a:t>
            </a:r>
          </a:p>
          <a:p>
            <a:r>
              <a:rPr lang="en-US" dirty="0"/>
              <a:t>Based on these insights, mixed snacks should represent a small portion of the total offerings. To optimize the selection while catering to demand:</a:t>
            </a:r>
          </a:p>
          <a:p>
            <a:pPr lvl="1"/>
            <a:r>
              <a:rPr lang="en-US" dirty="0"/>
              <a:t>Offer at most the </a:t>
            </a:r>
            <a:r>
              <a:rPr lang="en-US" b="1" dirty="0"/>
              <a:t>top two items</a:t>
            </a:r>
            <a:r>
              <a:rPr lang="en-US" dirty="0"/>
              <a:t> within each major snack category, as these account for approximately 73% of all selections on average.</a:t>
            </a:r>
          </a:p>
          <a:p>
            <a:pPr lvl="1"/>
            <a:r>
              <a:rPr lang="en-US" dirty="0"/>
              <a:t>For the </a:t>
            </a:r>
            <a:r>
              <a:rPr lang="en-US" b="1" dirty="0"/>
              <a:t>mixed snack category</a:t>
            </a:r>
            <a:r>
              <a:rPr lang="en-US" dirty="0"/>
              <a:t>, it is recommended to offer only the </a:t>
            </a:r>
            <a:r>
              <a:rPr lang="en-US" b="1" dirty="0"/>
              <a:t>most preferred item</a:t>
            </a:r>
            <a:r>
              <a:rPr lang="en-US" dirty="0"/>
              <a:t>, which accounts for approximately 55% of all selections on average.</a:t>
            </a:r>
          </a:p>
          <a:p>
            <a:endParaRPr lang="en-US" dirty="0"/>
          </a:p>
        </p:txBody>
      </p:sp>
    </p:spTree>
    <p:extLst>
      <p:ext uri="{BB962C8B-B14F-4D97-AF65-F5344CB8AC3E}">
        <p14:creationId xmlns:p14="http://schemas.microsoft.com/office/powerpoint/2010/main" val="10049564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9460D-AE6C-FBEC-0876-58B54A1855FA}"/>
              </a:ext>
            </a:extLst>
          </p:cNvPr>
          <p:cNvSpPr>
            <a:spLocks noGrp="1"/>
          </p:cNvSpPr>
          <p:nvPr>
            <p:ph type="title"/>
          </p:nvPr>
        </p:nvSpPr>
        <p:spPr/>
        <p:txBody>
          <a:bodyPr/>
          <a:lstStyle/>
          <a:p>
            <a:r>
              <a:rPr lang="en-US" b="1" dirty="0"/>
              <a:t>Suggestions</a:t>
            </a:r>
            <a:br>
              <a:rPr lang="en-US" b="1" dirty="0"/>
            </a:br>
            <a:endParaRPr lang="en-US" dirty="0"/>
          </a:p>
        </p:txBody>
      </p:sp>
      <p:sp>
        <p:nvSpPr>
          <p:cNvPr id="3" name="Content Placeholder 2">
            <a:extLst>
              <a:ext uri="{FF2B5EF4-FFF2-40B4-BE49-F238E27FC236}">
                <a16:creationId xmlns:a16="http://schemas.microsoft.com/office/drawing/2014/main" id="{80499BAF-FA3C-69A4-8F5A-EB259152ED68}"/>
              </a:ext>
            </a:extLst>
          </p:cNvPr>
          <p:cNvSpPr>
            <a:spLocks noGrp="1"/>
          </p:cNvSpPr>
          <p:nvPr>
            <p:ph idx="1"/>
          </p:nvPr>
        </p:nvSpPr>
        <p:spPr>
          <a:xfrm>
            <a:off x="685801" y="1972733"/>
            <a:ext cx="10131425" cy="1456267"/>
          </a:xfrm>
        </p:spPr>
        <p:txBody>
          <a:bodyPr/>
          <a:lstStyle/>
          <a:p>
            <a:r>
              <a:rPr lang="en-US" dirty="0"/>
              <a:t>Most respondents left the suggestion field blank, indicating that the options provided were satisfactory. </a:t>
            </a:r>
          </a:p>
          <a:p>
            <a:r>
              <a:rPr lang="en-US" dirty="0"/>
              <a:t>The few responses that were provided were extremely varied, and therefore it is recommended to continue offering the existing options.</a:t>
            </a:r>
          </a:p>
          <a:p>
            <a:endParaRPr lang="en-US" dirty="0"/>
          </a:p>
        </p:txBody>
      </p:sp>
    </p:spTree>
    <p:extLst>
      <p:ext uri="{BB962C8B-B14F-4D97-AF65-F5344CB8AC3E}">
        <p14:creationId xmlns:p14="http://schemas.microsoft.com/office/powerpoint/2010/main" val="19575940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187</TotalTime>
  <Words>329</Words>
  <Application>Microsoft Office PowerPoint</Application>
  <PresentationFormat>Widescreen</PresentationFormat>
  <Paragraphs>29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Celestial</vt:lpstr>
      <vt:lpstr>Snack Shack Survey Data Visualizations AND INSIGHTS</vt:lpstr>
      <vt:lpstr>Presentation Overview</vt:lpstr>
      <vt:lpstr>Demographic Information</vt:lpstr>
      <vt:lpstr>Food Snacks</vt:lpstr>
      <vt:lpstr>Drinks</vt:lpstr>
      <vt:lpstr>Sweet Snacks</vt:lpstr>
      <vt:lpstr>Mixed Snacks</vt:lpstr>
      <vt:lpstr>Suggestion Cloud</vt:lpstr>
      <vt:lpstr>Business Insights</vt:lpstr>
      <vt:lpstr>Assessment of survey data quality and effectiveness </vt:lpstr>
      <vt:lpstr>Identification of preferred and less preferred snack categories among respondents </vt:lpstr>
      <vt:lpstr>Suggestions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Shaunelle Riley</dc:creator>
  <cp:lastModifiedBy>Shaunelle Riley</cp:lastModifiedBy>
  <cp:revision>11</cp:revision>
  <dcterms:created xsi:type="dcterms:W3CDTF">2025-07-31T21:57:50Z</dcterms:created>
  <dcterms:modified xsi:type="dcterms:W3CDTF">2025-11-24T22:28:58Z</dcterms:modified>
</cp:coreProperties>
</file>